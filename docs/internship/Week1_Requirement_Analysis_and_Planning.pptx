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(30–45 sec): Introduce yourself and the internship context. State the project name and one-line purpose: helping rural women understand inheritance-related rights in simple language and find legal aid—not replacing lawyers.</a:t>
            </a:r>
          </a:p>
          <a:p/>
          <a:p>
            <a:r>
              <a:t>Mention that this deck summarizes what was completed in this week, decisions taken, and deliverables your guide can verify in the project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set expectations: you will explain the problem space first, then show that requirements and architecture were documented before any coding—standard software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empathy and clarity: you identified a real accessibility gap. If your guide asks “why not just Google?” — answer: language, trust, structured guided flow, and curated local contacts together differentiate this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map to the project’s stated goals. Mention that “guided flow” means the app asks neutral, non-identifying questions to tailor the explanation—aligned with privacy (NFR).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Shows maturity: you documented boundaries so scope creep is controlled. The literature conclusion was to combine grounded explanations + local UX + curated aid in one tool.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about traceability: each requirement was written so design and tests could map back—standard SRS 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NFRs to Week 4 testing and Week 3 modular code structure—you planned quality early.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documented alternatives (e.g., Node backend, SQLite vs PostgreSQL for local MVP) so choices are defensible in viva.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not diving into code here—you show systems thinking. Offer to open the architecture diagram in documentation during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 alignment with academic/internship schedule; supervisors often look for week-to-week traceability.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your guide to review these documents as evidence. Mention everything is versioned in the repository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restate one sentence—"We established what we build, for whom, and with what quality—and captured it in formal artifacts." Ask if the guide wants deeper detail on any requirement ID or diagram.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2240280"/>
          </a:xfrm>
          <a:prstGeom prst="rect">
            <a:avLst/>
          </a:prstGeom>
          <a:solidFill>
            <a:srgbClr val="0F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2880"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502920"/>
            <a:ext cx="8046720" cy="502920"/>
          </a:xfrm>
          <a:prstGeom prst="rect">
            <a:avLst/>
          </a:prstGeom>
          <a:noFill/>
        </p:spPr>
        <p:txBody>
          <a:bodyPr wrap="none">
            <a:spAutoFit/>
          </a:bodyPr>
          <a:lstStyle/>
          <a:p>
            <a:r>
              <a:rPr sz="1400" b="1">
                <a:solidFill>
                  <a:srgbClr val="BFD4FF"/>
                </a:solidFill>
                <a:latin typeface="Calibri"/>
              </a:rPr>
              <a:t>Week 1 — Progress Presentation</a:t>
            </a:r>
          </a:p>
        </p:txBody>
      </p:sp>
      <p:sp>
        <p:nvSpPr>
          <p:cNvPr id="6" name="TextBox 5"/>
          <p:cNvSpPr txBox="1"/>
          <p:nvPr/>
        </p:nvSpPr>
        <p:spPr>
          <a:xfrm>
            <a:off x="594360" y="960120"/>
            <a:ext cx="8046720" cy="777240"/>
          </a:xfrm>
          <a:prstGeom prst="rect">
            <a:avLst/>
          </a:prstGeom>
          <a:noFill/>
        </p:spPr>
        <p:txBody>
          <a:bodyPr wrap="none">
            <a:spAutoFit/>
          </a:bodyPr>
          <a:lstStyle/>
          <a:p>
            <a:r>
              <a:rPr sz="2800" b="1">
                <a:solidFill>
                  <a:srgbClr val="FFFFFF"/>
                </a:solidFill>
                <a:latin typeface="Calibri"/>
              </a:rPr>
              <a:t>Requirement Analysis, Literature Review &amp; Technical Planning</a:t>
            </a:r>
          </a:p>
        </p:txBody>
      </p:sp>
      <p:sp>
        <p:nvSpPr>
          <p:cNvPr id="7" name="TextBox 6"/>
          <p:cNvSpPr txBox="1"/>
          <p:nvPr/>
        </p:nvSpPr>
        <p:spPr>
          <a:xfrm>
            <a:off x="594360" y="2606040"/>
            <a:ext cx="8138160" cy="1234440"/>
          </a:xfrm>
          <a:prstGeom prst="rect">
            <a:avLst/>
          </a:prstGeom>
          <a:noFill/>
        </p:spPr>
        <p:txBody>
          <a:bodyPr wrap="square">
            <a:spAutoFit/>
          </a:bodyPr>
          <a:lstStyle/>
          <a:p>
            <a:r>
              <a:rPr sz="2000" b="1">
                <a:solidFill>
                  <a:srgbClr val="163A5E"/>
                </a:solidFill>
                <a:latin typeface="Calibri"/>
              </a:rPr>
              <a:t>Inheritance Dispute Resolver for Rural Women
</a:t>
            </a:r>
          </a:p>
          <a:p>
            <a:r>
              <a:rPr sz="1200" b="0">
                <a:solidFill>
                  <a:srgbClr val="334155"/>
                </a:solidFill>
                <a:latin typeface="Calibri"/>
              </a:rPr>
              <a:t>AI-assisted guidance on inheritance rights · Legal aid connection · Local languages</a:t>
            </a:r>
          </a:p>
        </p:txBody>
      </p:sp>
      <p:sp>
        <p:nvSpPr>
          <p:cNvPr id="8" name="TextBox 7"/>
          <p:cNvSpPr txBox="1"/>
          <p:nvPr/>
        </p:nvSpPr>
        <p:spPr>
          <a:xfrm>
            <a:off x="594360" y="4160520"/>
            <a:ext cx="7772400" cy="1005840"/>
          </a:xfrm>
          <a:prstGeom prst="rect">
            <a:avLst/>
          </a:prstGeom>
          <a:noFill/>
        </p:spPr>
        <p:txBody>
          <a:bodyPr wrap="none">
            <a:spAutoFit/>
          </a:bodyPr>
          <a:lstStyle/>
          <a:p>
            <a:r>
              <a:rPr sz="1100" b="0">
                <a:solidFill>
                  <a:srgbClr val="64748B"/>
                </a:solidFill>
                <a:latin typeface="Calibri"/>
              </a:rPr>
              <a:t>Prepared for academic / internship review with supervisor</a:t>
            </a:r>
          </a:p>
          <a:p>
            <a:r>
              <a:rPr sz="1100" b="0">
                <a:solidFill>
                  <a:srgbClr val="64748B"/>
                </a:solidFill>
                <a:latin typeface="Calibri"/>
              </a:rPr>
              <a:t>Presenter: Walk through each bullet slowly; speaker notes contain extra talking points.</a:t>
            </a:r>
          </a:p>
        </p:txBody>
      </p:sp>
      <p:sp>
        <p:nvSpPr>
          <p:cNvPr id="9" name="Rounded Rectangle 8"/>
          <p:cNvSpPr/>
          <p:nvPr/>
        </p:nvSpPr>
        <p:spPr>
          <a:xfrm>
            <a:off x="594360" y="5440680"/>
            <a:ext cx="2926080" cy="411480"/>
          </a:xfrm>
          <a:prstGeom prst="roundRect">
            <a:avLst/>
          </a:prstGeom>
          <a:solidFill>
            <a:srgbClr val="D1FAE5"/>
          </a:solidFill>
          <a:ln>
            <a:solidFill>
              <a:srgbClr val="0D94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04688"/>
            <a:ext cx="2651760" cy="320040"/>
          </a:xfrm>
          <a:prstGeom prst="rect">
            <a:avLst/>
          </a:prstGeom>
          <a:noFill/>
        </p:spPr>
        <p:txBody>
          <a:bodyPr wrap="none">
            <a:spAutoFit/>
          </a:bodyPr>
          <a:lstStyle/>
          <a:p>
            <a:r>
              <a:rPr sz="1100" b="1">
                <a:solidFill>
                  <a:srgbClr val="065246"/>
                </a:solidFill>
                <a:latin typeface="Calibri"/>
              </a:rPr>
              <a:t>Weekly milestone: Completed</a:t>
            </a:r>
          </a:p>
        </p:txBody>
      </p:sp>
      <p:sp>
        <p:nvSpPr>
          <p:cNvPr id="11" name="Rectangle 10"/>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38912"/>
            <a:ext cx="8138160" cy="548640"/>
          </a:xfrm>
          <a:prstGeom prst="rect">
            <a:avLst/>
          </a:prstGeom>
          <a:noFill/>
        </p:spPr>
        <p:txBody>
          <a:bodyPr wrap="none">
            <a:spAutoFit/>
          </a:bodyPr>
          <a:lstStyle/>
          <a:p>
            <a:r>
              <a:rPr sz="2400" b="1">
                <a:solidFill>
                  <a:srgbClr val="163A5E"/>
                </a:solidFill>
                <a:latin typeface="Calibri"/>
              </a:rPr>
              <a:t>Agenda</a:t>
            </a:r>
          </a:p>
        </p:txBody>
      </p:sp>
      <p:sp>
        <p:nvSpPr>
          <p:cNvPr id="5" name="TextBox 4"/>
          <p:cNvSpPr txBox="1"/>
          <p:nvPr/>
        </p:nvSpPr>
        <p:spPr>
          <a:xfrm>
            <a:off x="502920" y="960120"/>
            <a:ext cx="8138160" cy="320040"/>
          </a:xfrm>
          <a:prstGeom prst="rect">
            <a:avLst/>
          </a:prstGeom>
          <a:noFill/>
        </p:spPr>
        <p:txBody>
          <a:bodyPr wrap="none">
            <a:spAutoFit/>
          </a:bodyPr>
          <a:lstStyle/>
          <a:p>
            <a:r>
              <a:rPr sz="1200" b="0">
                <a:solidFill>
                  <a:srgbClr val="64748B"/>
                </a:solidFill>
                <a:latin typeface="Calibri"/>
              </a:rPr>
              <a:t>How this session is structured</a:t>
            </a:r>
          </a:p>
        </p:txBody>
      </p:sp>
      <p:sp>
        <p:nvSpPr>
          <p:cNvPr id="6" name="Rounded Rectangle 5"/>
          <p:cNvSpPr/>
          <p:nvPr/>
        </p:nvSpPr>
        <p:spPr>
          <a:xfrm>
            <a:off x="502920" y="1417320"/>
            <a:ext cx="8138160" cy="4709160"/>
          </a:xfrm>
          <a:prstGeom prst="roundRect">
            <a:avLst/>
          </a:prstGeom>
          <a:solidFill>
            <a:srgbClr val="FFFFFF"/>
          </a:solidFill>
          <a:ln>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7680960" cy="4343400"/>
          </a:xfrm>
          <a:prstGeom prst="rect">
            <a:avLst/>
          </a:prstGeom>
          <a:noFill/>
        </p:spPr>
        <p:txBody>
          <a:bodyPr wrap="square">
            <a:spAutoFit/>
          </a:bodyPr>
          <a:lstStyle/>
          <a:p>
            <a:pPr>
              <a:spcAft>
                <a:spcPts val="1000"/>
              </a:spcAft>
            </a:pPr>
            <a:r>
              <a:rPr sz="1400" b="0">
                <a:solidFill>
                  <a:srgbClr val="334155"/>
                </a:solidFill>
                <a:latin typeface="Calibri"/>
              </a:rPr>
              <a:t>1. Context: the social and information gap we address</a:t>
            </a:r>
          </a:p>
          <a:p>
            <a:pPr>
              <a:spcAft>
                <a:spcPts val="1000"/>
              </a:spcAft>
            </a:pPr>
            <a:r>
              <a:rPr sz="1400" b="0">
                <a:solidFill>
                  <a:srgbClr val="334155"/>
                </a:solidFill>
                <a:latin typeface="Calibri"/>
              </a:rPr>
              <a:t>2. Project objectives and what is explicitly in / out of scope</a:t>
            </a:r>
          </a:p>
          <a:p>
            <a:pPr>
              <a:spcAft>
                <a:spcPts val="1000"/>
              </a:spcAft>
            </a:pPr>
            <a:r>
              <a:rPr sz="1400" b="0">
                <a:solidFill>
                  <a:srgbClr val="334155"/>
                </a:solidFill>
                <a:latin typeface="Calibri"/>
              </a:rPr>
              <a:t>3. Requirements: what the system must do for users and quality bars</a:t>
            </a:r>
          </a:p>
          <a:p>
            <a:pPr>
              <a:spcAft>
                <a:spcPts val="1000"/>
              </a:spcAft>
            </a:pPr>
            <a:r>
              <a:rPr sz="1400" b="0">
                <a:solidFill>
                  <a:srgbClr val="334155"/>
                </a:solidFill>
                <a:latin typeface="Calibri"/>
              </a:rPr>
              <a:t>4. Technology direction and high-level architecture</a:t>
            </a:r>
          </a:p>
          <a:p>
            <a:pPr>
              <a:spcAft>
                <a:spcPts val="1000"/>
              </a:spcAft>
            </a:pPr>
            <a:r>
              <a:rPr sz="1400" b="0">
                <a:solidFill>
                  <a:srgbClr val="334155"/>
                </a:solidFill>
                <a:latin typeface="Calibri"/>
              </a:rPr>
              <a:t>5. Planned timeline and concrete deliverables from this week</a:t>
            </a:r>
          </a:p>
        </p:txBody>
      </p:sp>
      <p:sp>
        <p:nvSpPr>
          <p:cNvPr id="8" name="Rectangle 7"/>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Why this project matters (problem statement)</a:t>
            </a:r>
          </a:p>
        </p:txBody>
      </p:sp>
      <p:sp>
        <p:nvSpPr>
          <p:cNvPr id="5" name="TextBox 4"/>
          <p:cNvSpPr txBox="1"/>
          <p:nvPr/>
        </p:nvSpPr>
        <p:spPr>
          <a:xfrm>
            <a:off x="502920" y="987552"/>
            <a:ext cx="8138160" cy="5257800"/>
          </a:xfrm>
          <a:prstGeom prst="rect">
            <a:avLst/>
          </a:prstGeom>
          <a:noFill/>
        </p:spPr>
        <p:txBody>
          <a:bodyPr wrap="square">
            <a:spAutoFit/>
          </a:bodyPr>
          <a:lstStyle/>
          <a:p>
            <a:pPr>
              <a:spcAft>
                <a:spcPts val="1200"/>
              </a:spcAft>
            </a:pPr>
            <a:r>
              <a:rPr sz="1300" b="0">
                <a:solidFill>
                  <a:srgbClr val="334155"/>
                </a:solidFill>
                <a:latin typeface="Calibri"/>
              </a:rPr>
              <a:t>Many rural women do not get statutory inheritance information in a form they can understand: content is often in English or dense legal language, and not linked to nearby legal aid.</a:t>
            </a:r>
          </a:p>
          <a:p>
            <a:pPr>
              <a:spcAft>
                <a:spcPts val="1200"/>
              </a:spcAft>
            </a:pPr>
            <a:r>
              <a:rPr sz="1300" b="0">
                <a:solidFill>
                  <a:srgbClr val="334155"/>
                </a:solidFill>
                <a:latin typeface="Calibri"/>
              </a:rPr>
              <a:t>Misunderstanding rights can worsen family disputes and weaken access to land or housing that the law may already protect.</a:t>
            </a:r>
          </a:p>
          <a:p>
            <a:pPr>
              <a:spcAft>
                <a:spcPts val="1200"/>
              </a:spcAft>
            </a:pPr>
            <a:r>
              <a:rPr sz="1300" b="0">
                <a:solidFill>
                  <a:srgbClr val="334155"/>
                </a:solidFill>
                <a:latin typeface="Calibri"/>
              </a:rPr>
              <a:t>This project does not replace a lawyer; it explains concepts in plain, local-language text and points users toward verified legal aid channels.</a:t>
            </a:r>
          </a:p>
        </p:txBody>
      </p:sp>
      <p:sp>
        <p:nvSpPr>
          <p:cNvPr id="6" name="Rectangle 5"/>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Objectives we committed to (from formal requirements)</a:t>
            </a:r>
          </a:p>
        </p:txBody>
      </p:sp>
      <p:sp>
        <p:nvSpPr>
          <p:cNvPr id="5" name="TextBox 4"/>
          <p:cNvSpPr txBox="1"/>
          <p:nvPr/>
        </p:nvSpPr>
        <p:spPr>
          <a:xfrm>
            <a:off x="502920" y="1024128"/>
            <a:ext cx="8138160" cy="4892040"/>
          </a:xfrm>
          <a:prstGeom prst="rect">
            <a:avLst/>
          </a:prstGeom>
          <a:noFill/>
        </p:spPr>
        <p:txBody>
          <a:bodyPr wrap="square">
            <a:spAutoFit/>
          </a:bodyPr>
          <a:lstStyle/>
          <a:p>
            <a:pPr>
              <a:spcAft>
                <a:spcPts val="800"/>
              </a:spcAft>
            </a:pPr>
            <a:r>
              <a:rPr sz="1400" b="0">
                <a:solidFill>
                  <a:srgbClr val="334155"/>
                </a:solidFill>
                <a:latin typeface="Calibri"/>
              </a:rPr>
              <a:t>Explain inheritance topics in simple local language (e.g., Kannada, Hindi) with configurable deployment.</a:t>
            </a:r>
          </a:p>
          <a:p>
            <a:pPr>
              <a:spcAft>
                <a:spcPts val="800"/>
              </a:spcAft>
            </a:pPr>
            <a:r>
              <a:rPr sz="1400" b="0">
                <a:solidFill>
                  <a:srgbClr val="334155"/>
                </a:solidFill>
                <a:latin typeface="Calibri"/>
              </a:rPr>
              <a:t>Offer scenario-based guidance (for example intestate succession, daughter’s share) with clear limits—not legal verdicts.</a:t>
            </a:r>
          </a:p>
          <a:p>
            <a:pPr>
              <a:spcAft>
                <a:spcPts val="800"/>
              </a:spcAft>
            </a:pPr>
            <a:r>
              <a:rPr sz="1400" b="0">
                <a:solidFill>
                  <a:srgbClr val="334155"/>
                </a:solidFill>
                <a:latin typeface="Calibri"/>
              </a:rPr>
              <a:t>Connect users to legal aid: helplines, Legal Services Authorities, NGOs—with structured listings and optional links.</a:t>
            </a:r>
          </a:p>
          <a:p>
            <a:pPr>
              <a:spcAft>
                <a:spcPts val="800"/>
              </a:spcAft>
            </a:pPr>
            <a:r>
              <a:rPr sz="1400" b="0">
                <a:solidFill>
                  <a:srgbClr val="334155"/>
                </a:solidFill>
                <a:latin typeface="Calibri"/>
              </a:rPr>
              <a:t>Protect privacy: avoid storing sensitive personal narratives unless the user opts in for follow-up.</a:t>
            </a:r>
          </a:p>
        </p:txBody>
      </p:sp>
      <p:sp>
        <p:nvSpPr>
          <p:cNvPr id="6" name="Rectangle 5"/>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Scope boundaries (what we planned to build first)</a:t>
            </a:r>
          </a:p>
        </p:txBody>
      </p:sp>
      <p:sp>
        <p:nvSpPr>
          <p:cNvPr id="5" name="TextBox 4"/>
          <p:cNvSpPr txBox="1"/>
          <p:nvPr/>
        </p:nvSpPr>
        <p:spPr>
          <a:xfrm>
            <a:off x="502920" y="1024128"/>
            <a:ext cx="8138160" cy="4892040"/>
          </a:xfrm>
          <a:prstGeom prst="rect">
            <a:avLst/>
          </a:prstGeom>
          <a:noFill/>
        </p:spPr>
        <p:txBody>
          <a:bodyPr wrap="square">
            <a:spAutoFit/>
          </a:bodyPr>
          <a:lstStyle/>
          <a:p>
            <a:pPr>
              <a:spcAft>
                <a:spcPts val="800"/>
              </a:spcAft>
            </a:pPr>
            <a:r>
              <a:rPr sz="1400" b="0">
                <a:solidFill>
                  <a:srgbClr val="334155"/>
                </a:solidFill>
                <a:latin typeface="Calibri"/>
              </a:rPr>
              <a:t>In scope for the MVP: multilingual UI, retrieval- or policy-aware explanations with disclaimers, FAQ/guided questionnaire, legal aid directory, configuration for languages and resource URLs.</a:t>
            </a:r>
          </a:p>
          <a:p>
            <a:pPr>
              <a:spcAft>
                <a:spcPts val="800"/>
              </a:spcAft>
            </a:pPr>
            <a:r>
              <a:rPr sz="1400" b="0">
                <a:solidFill>
                  <a:srgbClr val="334155"/>
                </a:solidFill>
                <a:latin typeface="Calibri"/>
              </a:rPr>
              <a:t>Explicitly out of scope for now: filing court cases, guaranteeing outcomes, full automated review of uploaded wills/deeds, or replacing qualified legal advice.</a:t>
            </a:r>
          </a:p>
          <a:p>
            <a:pPr>
              <a:spcAft>
                <a:spcPts val="800"/>
              </a:spcAft>
            </a:pPr>
            <a:r>
              <a:rPr sz="1400" b="0">
                <a:solidFill>
                  <a:srgbClr val="334155"/>
                </a:solidFill>
                <a:latin typeface="Calibri"/>
              </a:rPr>
              <a:t>Literature survey compared government portals, NGO helplines, and generic chatbots—highlighting gaps in local language, inheritance focus, and curated aid linkage.</a:t>
            </a:r>
          </a:p>
        </p:txBody>
      </p:sp>
      <p:sp>
        <p:nvSpPr>
          <p:cNvPr id="6" name="Rectangle 5"/>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Functional requirements (what users must be able to do)</a:t>
            </a:r>
          </a:p>
        </p:txBody>
      </p:sp>
      <p:sp>
        <p:nvSpPr>
          <p:cNvPr id="5" name="TextBox 4"/>
          <p:cNvSpPr txBox="1"/>
          <p:nvPr/>
        </p:nvSpPr>
        <p:spPr>
          <a:xfrm>
            <a:off x="502920" y="896112"/>
            <a:ext cx="8138160" cy="411480"/>
          </a:xfrm>
          <a:prstGeom prst="rect">
            <a:avLst/>
          </a:prstGeom>
          <a:noFill/>
        </p:spPr>
        <p:txBody>
          <a:bodyPr wrap="none">
            <a:spAutoFit/>
          </a:bodyPr>
          <a:lstStyle/>
          <a:p>
            <a:r>
              <a:rPr sz="1200" b="0">
                <a:solidFill>
                  <a:srgbClr val="64748B"/>
                </a:solidFill>
                <a:latin typeface="Calibri"/>
              </a:rPr>
              <a:t>Priorities were ranked so implementation could follow what matters most for safety and usability.</a:t>
            </a:r>
          </a:p>
        </p:txBody>
      </p:sp>
      <p:sp>
        <p:nvSpPr>
          <p:cNvPr id="6" name="TextBox 5"/>
          <p:cNvSpPr txBox="1"/>
          <p:nvPr/>
        </p:nvSpPr>
        <p:spPr>
          <a:xfrm>
            <a:off x="502920" y="1389888"/>
            <a:ext cx="8138160" cy="4892040"/>
          </a:xfrm>
          <a:prstGeom prst="rect">
            <a:avLst/>
          </a:prstGeom>
          <a:noFill/>
        </p:spPr>
        <p:txBody>
          <a:bodyPr wrap="square">
            <a:spAutoFit/>
          </a:bodyPr>
          <a:lstStyle/>
          <a:p>
            <a:pPr>
              <a:spcAft>
                <a:spcPts val="800"/>
              </a:spcAft>
            </a:pPr>
            <a:r>
              <a:rPr sz="1400" b="0">
                <a:solidFill>
                  <a:srgbClr val="334155"/>
                </a:solidFill>
                <a:latin typeface="Calibri"/>
              </a:rPr>
              <a:t>Choose a language; complete a guided flow that collects only non-identifying facts to tailor the explanation.</a:t>
            </a:r>
          </a:p>
          <a:p>
            <a:pPr>
              <a:spcAft>
                <a:spcPts val="800"/>
              </a:spcAft>
            </a:pPr>
            <a:r>
              <a:rPr sz="1400" b="0">
                <a:solidFill>
                  <a:srgbClr val="334155"/>
                </a:solidFill>
                <a:latin typeface="Calibri"/>
              </a:rPr>
              <a:t>Receive a plain-language answer plus a visible disclaimer that output is informational, not legal advice.</a:t>
            </a:r>
          </a:p>
          <a:p>
            <a:pPr>
              <a:spcAft>
                <a:spcPts val="800"/>
              </a:spcAft>
            </a:pPr>
            <a:r>
              <a:rPr sz="1400" b="0">
                <a:solidFill>
                  <a:srgbClr val="334155"/>
                </a:solidFill>
                <a:latin typeface="Calibri"/>
              </a:rPr>
              <a:t>Browse and filter legal aid listings (e.g., by district/state); optionally open external maps or links.</a:t>
            </a:r>
          </a:p>
          <a:p>
            <a:pPr>
              <a:spcAft>
                <a:spcPts val="800"/>
              </a:spcAft>
            </a:pPr>
            <a:r>
              <a:rPr sz="1400" b="0">
                <a:solidFill>
                  <a:srgbClr val="334155"/>
                </a:solidFill>
                <a:latin typeface="Calibri"/>
              </a:rPr>
              <a:t>Submit lightweight feedback (e.g., helpful or not) without collecting unnecessary personal data.</a:t>
            </a:r>
          </a:p>
        </p:txBody>
      </p:sp>
      <p:sp>
        <p:nvSpPr>
          <p:cNvPr id="7" name="Rectangle 6"/>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Non-functional requirements (quality bars)</a:t>
            </a:r>
          </a:p>
        </p:txBody>
      </p:sp>
      <p:sp>
        <p:nvSpPr>
          <p:cNvPr id="5" name="TextBox 4"/>
          <p:cNvSpPr txBox="1"/>
          <p:nvPr/>
        </p:nvSpPr>
        <p:spPr>
          <a:xfrm>
            <a:off x="502920" y="1024128"/>
            <a:ext cx="8138160" cy="4892040"/>
          </a:xfrm>
          <a:prstGeom prst="rect">
            <a:avLst/>
          </a:prstGeom>
          <a:noFill/>
        </p:spPr>
        <p:txBody>
          <a:bodyPr wrap="square">
            <a:spAutoFit/>
          </a:bodyPr>
          <a:lstStyle/>
          <a:p>
            <a:pPr>
              <a:spcAft>
                <a:spcPts val="800"/>
              </a:spcAft>
            </a:pPr>
            <a:r>
              <a:rPr sz="1400" b="0">
                <a:solidFill>
                  <a:srgbClr val="334155"/>
                </a:solidFill>
                <a:latin typeface="Calibri"/>
              </a:rPr>
              <a:t>Usability: large text, high contrast, minimal steps—oriented toward mobile users with varying literacy comfort.</a:t>
            </a:r>
          </a:p>
          <a:p>
            <a:pPr>
              <a:spcAft>
                <a:spcPts val="800"/>
              </a:spcAft>
            </a:pPr>
            <a:r>
              <a:rPr sz="1400" b="0">
                <a:solidFill>
                  <a:srgbClr val="334155"/>
                </a:solidFill>
                <a:latin typeface="Calibri"/>
              </a:rPr>
              <a:t>Performance: target response time for explanations within a practical bound for MVP demos.</a:t>
            </a:r>
          </a:p>
          <a:p>
            <a:pPr>
              <a:spcAft>
                <a:spcPts val="800"/>
              </a:spcAft>
            </a:pPr>
            <a:r>
              <a:rPr sz="1400" b="0">
                <a:solidFill>
                  <a:srgbClr val="334155"/>
                </a:solidFill>
                <a:latin typeface="Calibri"/>
              </a:rPr>
              <a:t>Security &amp; privacy: HTTPS in production; avoid logging unnecessary personal information.</a:t>
            </a:r>
          </a:p>
          <a:p>
            <a:pPr>
              <a:spcAft>
                <a:spcPts val="800"/>
              </a:spcAft>
            </a:pPr>
            <a:r>
              <a:rPr sz="1400" b="0">
                <a:solidFill>
                  <a:srgbClr val="334155"/>
                </a:solidFill>
                <a:latin typeface="Calibri"/>
              </a:rPr>
              <a:t>Maintainability: clear separation of user interface, API, and configuration/content layers.</a:t>
            </a:r>
          </a:p>
        </p:txBody>
      </p:sp>
      <p:sp>
        <p:nvSpPr>
          <p:cNvPr id="6" name="Rectangle 5"/>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Technology stack decisions (rationale in plain terms)</a:t>
            </a:r>
          </a:p>
        </p:txBody>
      </p:sp>
      <p:sp>
        <p:nvSpPr>
          <p:cNvPr id="5" name="TextBox 4"/>
          <p:cNvSpPr txBox="1"/>
          <p:nvPr/>
        </p:nvSpPr>
        <p:spPr>
          <a:xfrm>
            <a:off x="502920" y="1024128"/>
            <a:ext cx="8138160" cy="4892040"/>
          </a:xfrm>
          <a:prstGeom prst="rect">
            <a:avLst/>
          </a:prstGeom>
          <a:noFill/>
        </p:spPr>
        <p:txBody>
          <a:bodyPr wrap="square">
            <a:spAutoFit/>
          </a:bodyPr>
          <a:lstStyle/>
          <a:p>
            <a:pPr>
              <a:spcAft>
                <a:spcPts val="800"/>
              </a:spcAft>
            </a:pPr>
            <a:r>
              <a:rPr sz="1400" b="0">
                <a:solidFill>
                  <a:srgbClr val="334155"/>
                </a:solidFill>
                <a:latin typeface="Calibri"/>
              </a:rPr>
              <a:t>Frontend: React with Vite—for a fast, mobile-friendly single-page experience.</a:t>
            </a:r>
          </a:p>
          <a:p>
            <a:pPr>
              <a:spcAft>
                <a:spcPts val="800"/>
              </a:spcAft>
            </a:pPr>
            <a:r>
              <a:rPr sz="1400" b="0">
                <a:solidFill>
                  <a:srgbClr val="334155"/>
                </a:solidFill>
                <a:latin typeface="Calibri"/>
              </a:rPr>
              <a:t>Backend: Python 3 with FastAPI—for clear REST APIs, automatic OpenAPI documentation, and async-ready design.</a:t>
            </a:r>
          </a:p>
          <a:p>
            <a:pPr>
              <a:spcAft>
                <a:spcPts val="800"/>
              </a:spcAft>
            </a:pPr>
            <a:r>
              <a:rPr sz="1400" b="0">
                <a:solidFill>
                  <a:srgbClr val="334155"/>
                </a:solidFill>
                <a:latin typeface="Calibri"/>
              </a:rPr>
              <a:t>Data &amp; validation: Pydantic models and an SQL-capable store for aid listings and feedback as the product grows.</a:t>
            </a:r>
          </a:p>
          <a:p>
            <a:pPr>
              <a:spcAft>
                <a:spcPts val="800"/>
              </a:spcAft>
            </a:pPr>
            <a:r>
              <a:rPr sz="1400" b="0">
                <a:solidFill>
                  <a:srgbClr val="334155"/>
                </a:solidFill>
                <a:latin typeface="Calibri"/>
              </a:rPr>
              <a:t>Quality: pytest and HTTPX for automated API tests; Docker-style reproducibility considered for later deployment.</a:t>
            </a:r>
          </a:p>
          <a:p>
            <a:pPr>
              <a:spcAft>
                <a:spcPts val="800"/>
              </a:spcAft>
            </a:pPr>
            <a:r>
              <a:rPr sz="1400" b="0">
                <a:solidFill>
                  <a:srgbClr val="334155"/>
                </a:solidFill>
                <a:latin typeface="Calibri"/>
              </a:rPr>
              <a:t>AI layer: designed to support retrieval-grounded explanations and optional embeddings/RAG when keys or models are available.</a:t>
            </a:r>
          </a:p>
        </p:txBody>
      </p:sp>
      <p:sp>
        <p:nvSpPr>
          <p:cNvPr id="6" name="Rectangle 5"/>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Architecture at a high level (communication artifact)</a:t>
            </a:r>
          </a:p>
        </p:txBody>
      </p:sp>
      <p:sp>
        <p:nvSpPr>
          <p:cNvPr id="5" name="TextBox 4"/>
          <p:cNvSpPr txBox="1"/>
          <p:nvPr/>
        </p:nvSpPr>
        <p:spPr>
          <a:xfrm>
            <a:off x="502920" y="1024128"/>
            <a:ext cx="8138160" cy="4892040"/>
          </a:xfrm>
          <a:prstGeom prst="rect">
            <a:avLst/>
          </a:prstGeom>
          <a:noFill/>
        </p:spPr>
        <p:txBody>
          <a:bodyPr wrap="square">
            <a:spAutoFit/>
          </a:bodyPr>
          <a:lstStyle/>
          <a:p>
            <a:pPr>
              <a:spcAft>
                <a:spcPts val="800"/>
              </a:spcAft>
            </a:pPr>
            <a:r>
              <a:rPr sz="1400" b="0">
                <a:solidFill>
                  <a:srgbClr val="334155"/>
                </a:solidFill>
                <a:latin typeface="Calibri"/>
              </a:rPr>
              <a:t>A layered view was produced: client (browser) talks to API services; services isolate explanation, retrieval, legal aid data, and feedback.</a:t>
            </a:r>
          </a:p>
          <a:p>
            <a:pPr>
              <a:spcAft>
                <a:spcPts val="800"/>
              </a:spcAft>
            </a:pPr>
            <a:r>
              <a:rPr sz="1400" b="0">
                <a:solidFill>
                  <a:srgbClr val="334155"/>
                </a:solidFill>
                <a:latin typeface="Calibri"/>
              </a:rPr>
              <a:t>Separating concerns supports testing, future scaling, and swapping components (e.g., different LLM or vector store) without rewriting the whole app.</a:t>
            </a:r>
          </a:p>
          <a:p>
            <a:pPr>
              <a:spcAft>
                <a:spcPts val="800"/>
              </a:spcAft>
            </a:pPr>
            <a:r>
              <a:rPr sz="1400" b="0">
                <a:solidFill>
                  <a:srgbClr val="334155"/>
                </a:solidFill>
                <a:latin typeface="Calibri"/>
              </a:rPr>
              <a:t>Configuration-driven content (languages, aid contacts) keeps the system maintainable without redeploying for every small text change where possible.</a:t>
            </a:r>
          </a:p>
        </p:txBody>
      </p:sp>
      <p:sp>
        <p:nvSpPr>
          <p:cNvPr id="6" name="Rectangle 5"/>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Timeline alignment (five-week internship structure)</a:t>
            </a:r>
          </a:p>
        </p:txBody>
      </p:sp>
      <p:sp>
        <p:nvSpPr>
          <p:cNvPr id="5" name="TextBox 4"/>
          <p:cNvSpPr txBox="1"/>
          <p:nvPr/>
        </p:nvSpPr>
        <p:spPr>
          <a:xfrm>
            <a:off x="502920" y="1024128"/>
            <a:ext cx="8138160" cy="4892040"/>
          </a:xfrm>
          <a:prstGeom prst="rect">
            <a:avLst/>
          </a:prstGeom>
          <a:noFill/>
        </p:spPr>
        <p:txBody>
          <a:bodyPr wrap="square">
            <a:spAutoFit/>
          </a:bodyPr>
          <a:lstStyle/>
          <a:p>
            <a:pPr>
              <a:spcAft>
                <a:spcPts val="800"/>
              </a:spcAft>
            </a:pPr>
            <a:r>
              <a:rPr sz="1400" b="0">
                <a:solidFill>
                  <a:srgbClr val="334155"/>
                </a:solidFill>
                <a:latin typeface="Calibri"/>
              </a:rPr>
              <a:t>Week 1: requirements, literature, architecture, stack—as summarized in this deck.</a:t>
            </a:r>
          </a:p>
          <a:p>
            <a:pPr>
              <a:spcAft>
                <a:spcPts val="800"/>
              </a:spcAft>
            </a:pPr>
            <a:r>
              <a:rPr sz="1400" b="0">
                <a:solidFill>
                  <a:srgbClr val="334155"/>
                </a:solidFill>
                <a:latin typeface="Calibri"/>
              </a:rPr>
              <a:t>Later weeks: detailed design, implementation, integration and testing, then final report and deployment documentation.</a:t>
            </a:r>
          </a:p>
          <a:p>
            <a:pPr>
              <a:spcAft>
                <a:spcPts val="800"/>
              </a:spcAft>
            </a:pPr>
            <a:r>
              <a:rPr sz="1400" b="0">
                <a:solidFill>
                  <a:srgbClr val="334155"/>
                </a:solidFill>
                <a:latin typeface="Calibri"/>
              </a:rPr>
              <a:t>Acceptance criteria for MVP were stated upfront (guided flow + disclaimer, filterable aid list, runnable demo, privacy posture).</a:t>
            </a:r>
          </a:p>
        </p:txBody>
      </p:sp>
      <p:sp>
        <p:nvSpPr>
          <p:cNvPr id="6" name="Rectangle 5"/>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D9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8138160" cy="475488"/>
          </a:xfrm>
          <a:prstGeom prst="rect">
            <a:avLst/>
          </a:prstGeom>
          <a:noFill/>
        </p:spPr>
        <p:txBody>
          <a:bodyPr wrap="none">
            <a:spAutoFit/>
          </a:bodyPr>
          <a:lstStyle/>
          <a:p>
            <a:r>
              <a:rPr sz="2200" b="1">
                <a:solidFill>
                  <a:srgbClr val="163A5E"/>
                </a:solidFill>
                <a:latin typeface="Calibri"/>
              </a:rPr>
              <a:t>Deliverables produced by end of Week 1</a:t>
            </a:r>
          </a:p>
        </p:txBody>
      </p:sp>
      <p:sp>
        <p:nvSpPr>
          <p:cNvPr id="5" name="TextBox 4"/>
          <p:cNvSpPr txBox="1"/>
          <p:nvPr/>
        </p:nvSpPr>
        <p:spPr>
          <a:xfrm>
            <a:off x="502920" y="1024128"/>
            <a:ext cx="8138160" cy="4892040"/>
          </a:xfrm>
          <a:prstGeom prst="rect">
            <a:avLst/>
          </a:prstGeom>
          <a:noFill/>
        </p:spPr>
        <p:txBody>
          <a:bodyPr wrap="square">
            <a:spAutoFit/>
          </a:bodyPr>
          <a:lstStyle/>
          <a:p>
            <a:pPr>
              <a:spcAft>
                <a:spcPts val="800"/>
              </a:spcAft>
            </a:pPr>
            <a:r>
              <a:rPr sz="1400" b="0">
                <a:solidFill>
                  <a:srgbClr val="334155"/>
                </a:solidFill>
                <a:latin typeface="Calibri"/>
              </a:rPr>
              <a:t>Software Requirements Specification (SRS): problem, scope, functional/non-functional requirements, constraints, user classes, plan.</a:t>
            </a:r>
          </a:p>
          <a:p>
            <a:pPr>
              <a:spcAft>
                <a:spcPts val="800"/>
              </a:spcAft>
            </a:pPr>
            <a:r>
              <a:rPr sz="1400" b="0">
                <a:solidFill>
                  <a:srgbClr val="334155"/>
                </a:solidFill>
                <a:latin typeface="Calibri"/>
              </a:rPr>
              <a:t>Architecture description with diagram showing major components and data flow.</a:t>
            </a:r>
          </a:p>
          <a:p>
            <a:pPr>
              <a:spcAft>
                <a:spcPts val="800"/>
              </a:spcAft>
            </a:pPr>
            <a:r>
              <a:rPr sz="1400" b="0">
                <a:solidFill>
                  <a:srgbClr val="334155"/>
                </a:solidFill>
                <a:latin typeface="Calibri"/>
              </a:rPr>
              <a:t>Technology stack document listing tools and rationale for frontend, backend, AI, database, testing, and DevOps.</a:t>
            </a:r>
          </a:p>
        </p:txBody>
      </p:sp>
      <p:sp>
        <p:nvSpPr>
          <p:cNvPr id="6" name="Rectangle 5"/>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234440"/>
          </a:xfrm>
          <a:prstGeom prst="rect">
            <a:avLst/>
          </a:prstGeom>
          <a:solidFill>
            <a:srgbClr val="16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8138160" cy="502920"/>
          </a:xfrm>
          <a:prstGeom prst="rect">
            <a:avLst/>
          </a:prstGeom>
          <a:noFill/>
        </p:spPr>
        <p:txBody>
          <a:bodyPr wrap="none">
            <a:spAutoFit/>
          </a:bodyPr>
          <a:lstStyle/>
          <a:p>
            <a:r>
              <a:rPr sz="2200" b="1">
                <a:solidFill>
                  <a:srgbClr val="FFFFFF"/>
                </a:solidFill>
                <a:latin typeface="Calibri"/>
              </a:rPr>
              <a:t>Week 1 — Key outcomes &amp; message for the guide</a:t>
            </a:r>
          </a:p>
        </p:txBody>
      </p:sp>
      <p:sp>
        <p:nvSpPr>
          <p:cNvPr id="5" name="Rounded Rectangle 4"/>
          <p:cNvSpPr/>
          <p:nvPr/>
        </p:nvSpPr>
        <p:spPr>
          <a:xfrm>
            <a:off x="502920" y="1600200"/>
            <a:ext cx="8138160" cy="4526280"/>
          </a:xfrm>
          <a:prstGeom prst="roundRect">
            <a:avLst/>
          </a:prstGeom>
          <a:solidFill>
            <a:srgbClr val="FFFFFF"/>
          </a:solidFill>
          <a:ln>
            <a:solidFill>
              <a:srgbClr val="0D94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7635240" cy="4160520"/>
          </a:xfrm>
          <a:prstGeom prst="rect">
            <a:avLst/>
          </a:prstGeom>
          <a:noFill/>
        </p:spPr>
        <p:txBody>
          <a:bodyPr wrap="square">
            <a:spAutoFit/>
          </a:bodyPr>
          <a:lstStyle/>
          <a:p>
            <a:pPr>
              <a:spcAft>
                <a:spcPts val="1000"/>
              </a:spcAft>
            </a:pPr>
            <a:r>
              <a:rPr sz="1400" b="0">
                <a:solidFill>
                  <a:srgbClr val="334155"/>
                </a:solidFill>
                <a:latin typeface="Calibri"/>
              </a:rPr>
              <a:t>✓ The problem, objectives, and MVP boundaries were written down before implementation—reducing ambiguity.</a:t>
            </a:r>
          </a:p>
          <a:p>
            <a:pPr>
              <a:spcAft>
                <a:spcPts val="1000"/>
              </a:spcAft>
            </a:pPr>
            <a:r>
              <a:rPr sz="1400" b="0">
                <a:solidFill>
                  <a:srgbClr val="334155"/>
                </a:solidFill>
                <a:latin typeface="Calibri"/>
              </a:rPr>
              <a:t>✓ Requirements are testable; non-functional bars guided UX and security-conscious design.</a:t>
            </a:r>
          </a:p>
          <a:p>
            <a:pPr>
              <a:spcAft>
                <a:spcPts val="1000"/>
              </a:spcAft>
            </a:pPr>
            <a:r>
              <a:rPr sz="1400" b="0">
                <a:solidFill>
                  <a:srgbClr val="334155"/>
                </a:solidFill>
                <a:latin typeface="Calibri"/>
              </a:rPr>
              <a:t>✓ Architecture and stack choices support modular development and future retrieval/ML extensions.</a:t>
            </a:r>
          </a:p>
          <a:p>
            <a:pPr>
              <a:spcAft>
                <a:spcPts val="1000"/>
              </a:spcAft>
            </a:pPr>
            <a:r>
              <a:rPr sz="1400" b="0">
                <a:solidFill>
                  <a:srgbClr val="334155"/>
                </a:solidFill>
                <a:latin typeface="Calibri"/>
              </a:rPr>
              <a:t>✓ You are ready to move into detailed design (database, UI wireframes, modules) in Week 2.</a:t>
            </a:r>
          </a:p>
        </p:txBody>
      </p:sp>
      <p:sp>
        <p:nvSpPr>
          <p:cNvPr id="7" name="TextBox 6"/>
          <p:cNvSpPr txBox="1"/>
          <p:nvPr/>
        </p:nvSpPr>
        <p:spPr>
          <a:xfrm>
            <a:off x="502920" y="6263640"/>
            <a:ext cx="8138160" cy="365760"/>
          </a:xfrm>
          <a:prstGeom prst="rect">
            <a:avLst/>
          </a:prstGeom>
          <a:noFill/>
        </p:spPr>
        <p:txBody>
          <a:bodyPr wrap="none">
            <a:spAutoFit/>
          </a:bodyPr>
          <a:lstStyle/>
          <a:p>
            <a:r>
              <a:rPr sz="1200" b="1">
                <a:solidFill>
                  <a:srgbClr val="0D9478"/>
                </a:solidFill>
                <a:latin typeface="Calibri"/>
              </a:rPr>
              <a:t>Thank you — questions &amp; feedback welcome.</a:t>
            </a:r>
          </a:p>
        </p:txBody>
      </p:sp>
      <p:sp>
        <p:nvSpPr>
          <p:cNvPr id="8" name="Rectangle 7"/>
          <p:cNvSpPr/>
          <p:nvPr/>
        </p:nvSpPr>
        <p:spPr>
          <a:xfrm>
            <a:off x="457200" y="6446520"/>
            <a:ext cx="8229600" cy="18288"/>
          </a:xfrm>
          <a:prstGeom prst="rect">
            <a:avLst/>
          </a:prstGeom>
          <a:solidFill>
            <a:srgbClr val="E0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10528"/>
            <a:ext cx="8229600" cy="292608"/>
          </a:xfrm>
          <a:prstGeom prst="rect">
            <a:avLst/>
          </a:prstGeom>
          <a:noFill/>
        </p:spPr>
        <p:txBody>
          <a:bodyPr wrap="none">
            <a:spAutoFit/>
          </a:bodyPr>
          <a:lstStyle/>
          <a:p>
            <a:pPr algn="l"/>
            <a:r>
              <a:rPr sz="900" b="0">
                <a:solidFill>
                  <a:srgbClr val="64748B"/>
                </a:solidFill>
                <a:latin typeface="Calibri"/>
              </a:rPr>
              <a:t>Inheritance Dispute Resolver for Rural Women  ·  Week 1  ·  Weekly milestone: Completed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